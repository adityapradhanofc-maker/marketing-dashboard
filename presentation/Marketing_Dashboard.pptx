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1B4B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1B4B"/>
                </a:solidFill>
                <a:latin typeface="Calibri"/>
              </a:rPr>
              <a:t>ROI by channel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ROI %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Email</c:v>
                  </c:pt>
                  <c:pt idx="1">
                    <c:v>Google Ads</c:v>
                  </c:pt>
                  <c:pt idx="2">
                    <c:v>Facebook</c:v>
                  </c:pt>
                  <c:pt idx="3">
                    <c:v>LinkedIn</c:v>
                  </c:pt>
                  <c:pt idx="4">
                    <c:v>Instagram</c:v>
                  </c:pt>
                  <c:pt idx="5">
                    <c:v>YouTube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9110</c:v>
                </c:pt>
                <c:pt idx="1">
                  <c:v>721</c:v>
                </c:pt>
                <c:pt idx="2">
                  <c:v>539</c:v>
                </c:pt>
                <c:pt idx="3">
                  <c:v>410</c:v>
                </c:pt>
                <c:pt idx="4">
                  <c:v>352</c:v>
                </c:pt>
                <c:pt idx="5">
                  <c:v>346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spend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Email</c:v>
                  </c:pt>
                  <c:pt idx="1">
                    <c:v>Google Ads</c:v>
                  </c:pt>
                  <c:pt idx="2">
                    <c:v>Facebook</c:v>
                  </c:pt>
                  <c:pt idx="3">
                    <c:v>LinkedIn</c:v>
                  </c:pt>
                  <c:pt idx="4">
                    <c:v>Instagram</c:v>
                  </c:pt>
                  <c:pt idx="5">
                    <c:v>YouTube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7.9</c:v>
                </c:pt>
                <c:pt idx="1">
                  <c:v>47.1</c:v>
                </c:pt>
                <c:pt idx="2">
                  <c:v>9.6</c:v>
                </c:pt>
                <c:pt idx="3">
                  <c:v>15.8</c:v>
                </c:pt>
                <c:pt idx="4">
                  <c:v>14</c:v>
                </c:pt>
                <c:pt idx="5">
                  <c:v>5.6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Share of revenue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Email</c:v>
                  </c:pt>
                  <c:pt idx="1">
                    <c:v>Google Ads</c:v>
                  </c:pt>
                  <c:pt idx="2">
                    <c:v>Facebook</c:v>
                  </c:pt>
                  <c:pt idx="3">
                    <c:v>LinkedIn</c:v>
                  </c:pt>
                  <c:pt idx="4">
                    <c:v>Instagram</c:v>
                  </c:pt>
                  <c:pt idx="5">
                    <c:v>YouTube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54</c:v>
                </c:pt>
                <c:pt idx="1">
                  <c:v>28.8</c:v>
                </c:pt>
                <c:pt idx="2">
                  <c:v>4.6</c:v>
                </c:pt>
                <c:pt idx="3">
                  <c:v>6</c:v>
                </c:pt>
                <c:pt idx="4">
                  <c:v>4.7</c:v>
                </c:pt>
                <c:pt idx="5">
                  <c:v>1.9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project: a dashboard that analyses marketing campaign performance across 6 channels.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brief: analyse campaign data, track engagement, compare channels, generate reports and insights. Stack is Python with Streamlit.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pipeline. The raw data was deliberately messy: mixed date formats, bad casing, missing values, negatives, duplicates.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ratios are computed from sums, not by averaging row ratios. Data is synthetic so absolute ROI is illustrative.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Email ROI is 9,110% but the synthetic data exaggerates this. The ranking is the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Email gets 8% of spend but earns 54% of revenue. Google Ads takes 47% of spend and returns 29%.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three are all Email. Weakest are Shopping Ads Q4, Unboxing Series and Lookalike Audience. Engagement rose from 4.73% to 5.66%, peak November.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live app here. Sidebar filters drive every chart, KPI card, insight and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recommendation comes straight from the data and is generated by code in insights.py.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097280"/>
            <a:ext cx="4114800" cy="4114800"/>
          </a:xfrm>
          <a:prstGeom prst="ellipse">
            <a:avLst/>
          </a:prstGeom>
          <a:solidFill>
            <a:srgbClr val="4F46E5">
              <a:alpha val="60000"/>
            </a:srgbClr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291840"/>
            <a:ext cx="2011680" cy="2011680"/>
          </a:xfrm>
          <a:prstGeom prst="ellipse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Performance Dashboard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517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campaigns, comparing channels and turning data into decisions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SkillOrbit Data Analytics Capstone  |  Presented by: ____________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>
            <a:off x="411480" y="347472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64008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 and tech stack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37160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marketing campaign data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customer engagement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campaign performance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marketing channels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reports and insights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93776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937760" y="137160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29200" y="14447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029200" y="1810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903720" y="137160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995160" y="14447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995160" y="1810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charts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937760" y="228600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029200" y="23591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029200" y="27249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903720" y="228600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95160" y="23591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995160" y="27249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937760" y="320040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29200" y="32735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Cloud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29200" y="36393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903720" y="320040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995160" y="32735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995160" y="36393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tests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>
            <a:off x="411480" y="347472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64008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messy data to insights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09728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2344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234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7830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campaigns, 6 channels, 2025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37560" y="109728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74720" y="12344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47472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023360" y="1234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17830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Dates, casing, missing values, duplicates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35040" y="109728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72200" y="12344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17220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720840" y="1234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6172200" y="17830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SQLite: 3 tables + 1 view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40080" y="269748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77240" y="28346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33832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KPIs by channel, campaign, month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337560" y="269748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474720" y="28346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47472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402336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3474720" y="33832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with filters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035040" y="269748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172200" y="28346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17220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67208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6172200" y="33832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CSV, Markdown, Excel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4,503 clean rows  |  no nulls, no duplicates, no negatives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>
            <a:off x="411480" y="347472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64008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results: 2025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05156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143000"/>
            <a:ext cx="16459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₹40.1M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767535"/>
            <a:ext cx="164592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651760" y="105156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743200" y="1143000"/>
            <a:ext cx="16459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₹538.9M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2743200" y="1767535"/>
            <a:ext cx="164592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105156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54880" y="1143000"/>
            <a:ext cx="16459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1,243%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4754880" y="1767535"/>
            <a:ext cx="164592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675120" y="105156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766560" y="1143000"/>
            <a:ext cx="16459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13.43x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6766560" y="1767535"/>
            <a:ext cx="164592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0080" y="246888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2560320"/>
            <a:ext cx="16459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2.91%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3184855"/>
            <a:ext cx="164592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651760" y="246888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743200" y="2560320"/>
            <a:ext cx="16459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6.90%</a:t>
            </a:r>
            <a:endParaRPr lang="en-US" sz="2600" dirty="0"/>
          </a:p>
        </p:txBody>
      </p:sp>
      <p:sp>
        <p:nvSpPr>
          <p:cNvPr id="22" name="Text 19"/>
          <p:cNvSpPr txBox="1"/>
          <p:nvPr/>
        </p:nvSpPr>
        <p:spPr>
          <a:xfrm>
            <a:off x="2743200" y="3184855"/>
            <a:ext cx="164592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663440" y="246888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754880" y="2560320"/>
            <a:ext cx="16459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₹13.01</a:t>
            </a:r>
            <a:endParaRPr lang="en-US" sz="2600" dirty="0"/>
          </a:p>
        </p:txBody>
      </p:sp>
      <p:sp>
        <p:nvSpPr>
          <p:cNvPr id="25" name="Text 22"/>
          <p:cNvSpPr txBox="1"/>
          <p:nvPr/>
        </p:nvSpPr>
        <p:spPr>
          <a:xfrm>
            <a:off x="4754880" y="3184855"/>
            <a:ext cx="164592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675120" y="246888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766560" y="2560320"/>
            <a:ext cx="16459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₹188</a:t>
            </a:r>
            <a:endParaRPr lang="en-US" sz="2600" dirty="0"/>
          </a:p>
        </p:txBody>
      </p:sp>
      <p:sp>
        <p:nvSpPr>
          <p:cNvPr id="28" name="Text 25"/>
          <p:cNvSpPr txBox="1"/>
          <p:nvPr/>
        </p:nvSpPr>
        <p:spPr>
          <a:xfrm>
            <a:off x="6766560" y="3184855"/>
            <a:ext cx="164592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" y="4023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106.2M impressions  |  3.09M clicks  |  212,981 conversions  |  5.11% engagement rate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>
            <a:off x="411480" y="347472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64008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wins on ROI by a wide margin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914400"/>
          <a:ext cx="51206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6035040" y="100584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172200" y="1078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172200" y="13898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10.41% conversion, CPA ₹29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035040" y="192024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172200" y="1993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172200" y="23042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Costliest customers: CPA ₹829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35040" y="283464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172200" y="2907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172200" y="32186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conversion: 2.24%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374904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172200" y="3822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6172200" y="41330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engagement: 7.86%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>
            <a:off x="411480" y="347472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64008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money goes vs where it comes back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914400"/>
          <a:ext cx="78638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40080" y="4251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8% of spend, 54% of revenue.  Google Ads: 47% of spend, 29% of revenue.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>
            <a:off x="411480" y="347472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64008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and weakest campaigns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960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by ROI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371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Rewards (Email)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3383280" y="1371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11,368%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828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Abandonment (Email)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3383280" y="1828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8,738%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286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Newsletter (Email)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383280" y="2286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7,273%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754880" y="960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by ROI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754880" y="1371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Ads Q4 (Google)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589520" y="1371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226%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754880" y="1828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Unboxing Series (YouTube)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589520" y="1828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243%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754880" y="2286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Lookalike Audience (Facebook)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589520" y="2286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260%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40080" y="301752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3108960"/>
            <a:ext cx="22860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4.73% → 5.66%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731520" y="3813048"/>
            <a:ext cx="2286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Engagement, first 3 vs last 3 months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337560" y="301752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429000" y="3108960"/>
            <a:ext cx="22860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2025</a:t>
            </a:r>
            <a:endParaRPr lang="en-US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3429000" y="3813048"/>
            <a:ext cx="2286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engagement month (5.99%)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035040" y="301752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126480" y="3108960"/>
            <a:ext cx="22860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2600" dirty="0"/>
          </a:p>
        </p:txBody>
      </p:sp>
      <p:sp>
        <p:nvSpPr>
          <p:cNvPr id="27" name="Text 24"/>
          <p:cNvSpPr txBox="1"/>
          <p:nvPr/>
        </p:nvSpPr>
        <p:spPr>
          <a:xfrm>
            <a:off x="6126480" y="3813048"/>
            <a:ext cx="2286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engagement, only 3.0% conversion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>
            <a:off x="411480" y="347472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64008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filters: date range, channel, campaign. Everything updates together.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463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1828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vs revenue, engagement, conversions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37560" y="137160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74720" y="1463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1828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and conversion by channel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035040" y="137160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172200" y="1463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172200" y="1828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by revenue, ROI or conversions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" y="256032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Impressions, clicks, conversions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337560" y="256032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474720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3474720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findings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035040" y="256032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172200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172200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CSV, Markdown, Excel downloads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40080" y="3886200"/>
            <a:ext cx="7863840" cy="640080"/>
          </a:xfrm>
          <a:prstGeom prst="roundRect">
            <a:avLst>
              <a:gd name="adj" fmla="val 11429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2960" y="38862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Tested: 18 automated tests check KPI math, data quality and reports. All pass.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>
            <a:off x="411480" y="347472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64008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recommendations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960120"/>
            <a:ext cx="78638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088136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088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0058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budget to Email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754880" y="10058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of spend, 54% of revenue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1709928"/>
            <a:ext cx="78638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1837944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1837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17556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Google Ads spend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754880" y="175564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 of spend, 29% of revenue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" y="2459736"/>
            <a:ext cx="78638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77240" y="258775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325880" y="250545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or pause Shopping Ads Q4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4754880" y="250545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ROI at 226%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40080" y="3209544"/>
            <a:ext cx="78638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77240" y="333756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325526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Instagram engagement into sales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754880" y="325526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clear calls-to-action and shoppable links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40080" y="3959352"/>
            <a:ext cx="78638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77240" y="4087368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7724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1325880" y="400507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LinkedIn cost per customer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4754880" y="400507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₹829: tighten targeting, improve landing pages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3108960"/>
            <a:ext cx="3108960" cy="3108960"/>
          </a:xfrm>
          <a:prstGeom prst="ellipse">
            <a:avLst/>
          </a:prstGeom>
          <a:solidFill>
            <a:srgbClr val="4F46E5">
              <a:alpha val="60000"/>
            </a:srgbClr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6766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analytics workflow: data, cleaning, database, KPIs, dashboard, insights, reports, tests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shows where to put budget and which campaigns to fix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data is self-generated, so absolute ROI is illustrative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real data sources, forecasting, A/B test analysis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14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Performance Dashboard</dc:title>
  <dc:subject>PptxGenJS Presentation</dc:subject>
  <dc:creator>PptxGenJS</dc:creator>
  <cp:lastModifiedBy>PptxGenJS</cp:lastModifiedBy>
  <cp:revision>1</cp:revision>
  <dcterms:created xsi:type="dcterms:W3CDTF">2026-10-27T17:30:43Z</dcterms:created>
  <dcterms:modified xsi:type="dcterms:W3CDTF">2026-10-27T17:30:43Z</dcterms:modified>
</cp:coreProperties>
</file>